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8"/>
  </p:notesMasterIdLst>
  <p:sldIdLst>
    <p:sldId id="256" r:id="rId5"/>
    <p:sldId id="265" r:id="rId6"/>
    <p:sldId id="267" r:id="rId7"/>
    <p:sldId id="266" r:id="rId8"/>
    <p:sldId id="268" r:id="rId9"/>
    <p:sldId id="269" r:id="rId10"/>
    <p:sldId id="270" r:id="rId11"/>
    <p:sldId id="274" r:id="rId12"/>
    <p:sldId id="271" r:id="rId13"/>
    <p:sldId id="275" r:id="rId14"/>
    <p:sldId id="272" r:id="rId15"/>
    <p:sldId id="273" r:id="rId16"/>
    <p:sldId id="26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65"/>
            <p14:sldId id="267"/>
            <p14:sldId id="266"/>
            <p14:sldId id="268"/>
            <p14:sldId id="269"/>
            <p14:sldId id="270"/>
            <p14:sldId id="274"/>
            <p14:sldId id="271"/>
            <p14:sldId id="275"/>
            <p14:sldId id="272"/>
            <p14:sldId id="273"/>
          </p14:sldIdLst>
        </p14:section>
        <p14:section name="Learn More" id="{2CC34DB2-6590-42C0-AD4B-A04C606018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B4A6"/>
    <a:srgbClr val="734F29"/>
    <a:srgbClr val="D24726"/>
    <a:srgbClr val="DD462F"/>
    <a:srgbClr val="AEB785"/>
    <a:srgbClr val="EFD5A2"/>
    <a:srgbClr val="3B3026"/>
    <a:srgbClr val="ECE1CA"/>
    <a:srgbClr val="79553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280" autoAdjust="0"/>
  </p:normalViewPr>
  <p:slideViewPr>
    <p:cSldViewPr snapToGrid="0">
      <p:cViewPr varScale="1">
        <p:scale>
          <a:sx n="80" d="100"/>
          <a:sy n="80" d="100"/>
        </p:scale>
        <p:origin x="10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EA178A-78EE-4C32-81A7-021A4EBC019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61E979B-CD5D-487D-9365-F9DCEBB89AD0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 smtClean="0"/>
            <a:t>1</a:t>
          </a:r>
        </a:p>
        <a:p>
          <a:r>
            <a:rPr lang="en-US" dirty="0" smtClean="0"/>
            <a:t>Data Prep</a:t>
          </a:r>
          <a:endParaRPr lang="en-US" dirty="0"/>
        </a:p>
      </dgm:t>
    </dgm:pt>
    <dgm:pt modelId="{59129F39-BCB5-4DA6-B214-FB2377790D09}" type="parTrans" cxnId="{5B143705-9DC7-4E70-B3FD-904A069A0068}">
      <dgm:prSet/>
      <dgm:spPr/>
      <dgm:t>
        <a:bodyPr/>
        <a:lstStyle/>
        <a:p>
          <a:endParaRPr lang="en-US"/>
        </a:p>
      </dgm:t>
    </dgm:pt>
    <dgm:pt modelId="{3FE0A1EC-ED98-4D61-BDCC-48709A83DEE3}" type="sibTrans" cxnId="{5B143705-9DC7-4E70-B3FD-904A069A0068}">
      <dgm:prSet/>
      <dgm:spPr/>
      <dgm:t>
        <a:bodyPr/>
        <a:lstStyle/>
        <a:p>
          <a:endParaRPr lang="en-US"/>
        </a:p>
      </dgm:t>
    </dgm:pt>
    <dgm:pt modelId="{00BE6CC7-42DF-4E5D-800B-3D44CC75C478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 smtClean="0"/>
            <a:t>2</a:t>
          </a:r>
        </a:p>
        <a:p>
          <a:r>
            <a:rPr lang="en-US" dirty="0" smtClean="0"/>
            <a:t>Provision</a:t>
          </a:r>
          <a:endParaRPr lang="en-US" dirty="0"/>
        </a:p>
      </dgm:t>
    </dgm:pt>
    <dgm:pt modelId="{0A0CD4B3-BF8F-4D1C-8D7B-CFF5411D36D0}" type="parTrans" cxnId="{23D7EB21-2DCF-4EEB-ADD8-11B3C1477E9E}">
      <dgm:prSet/>
      <dgm:spPr/>
      <dgm:t>
        <a:bodyPr/>
        <a:lstStyle/>
        <a:p>
          <a:endParaRPr lang="en-US"/>
        </a:p>
      </dgm:t>
    </dgm:pt>
    <dgm:pt modelId="{ED63C8D9-5BE3-4E81-A7D9-6CD5586FB77F}" type="sibTrans" cxnId="{23D7EB21-2DCF-4EEB-ADD8-11B3C1477E9E}">
      <dgm:prSet/>
      <dgm:spPr/>
      <dgm:t>
        <a:bodyPr/>
        <a:lstStyle/>
        <a:p>
          <a:endParaRPr lang="en-US"/>
        </a:p>
      </dgm:t>
    </dgm:pt>
    <dgm:pt modelId="{5F45F907-0F71-4789-8625-4E0F6BA5A1D9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 smtClean="0"/>
            <a:t>3</a:t>
          </a:r>
        </a:p>
        <a:p>
          <a:r>
            <a:rPr lang="en-US" dirty="0" smtClean="0"/>
            <a:t>Ingest Data</a:t>
          </a:r>
          <a:endParaRPr lang="en-US" dirty="0"/>
        </a:p>
      </dgm:t>
    </dgm:pt>
    <dgm:pt modelId="{2470CA7A-4E39-4E9C-B1FA-DF2DAB2CE2D7}" type="parTrans" cxnId="{DAEF15AA-028E-4BF6-BBE7-CAC4AE191706}">
      <dgm:prSet/>
      <dgm:spPr/>
      <dgm:t>
        <a:bodyPr/>
        <a:lstStyle/>
        <a:p>
          <a:endParaRPr lang="en-US"/>
        </a:p>
      </dgm:t>
    </dgm:pt>
    <dgm:pt modelId="{10AFD36F-7579-4E1E-B8B8-4833C0DCF9DF}" type="sibTrans" cxnId="{DAEF15AA-028E-4BF6-BBE7-CAC4AE191706}">
      <dgm:prSet/>
      <dgm:spPr/>
      <dgm:t>
        <a:bodyPr/>
        <a:lstStyle/>
        <a:p>
          <a:endParaRPr lang="en-US"/>
        </a:p>
      </dgm:t>
    </dgm:pt>
    <dgm:pt modelId="{3F1936DA-2E28-4CF6-8EF1-DBDB6DFE2CF3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 smtClean="0"/>
            <a:t>4</a:t>
          </a:r>
        </a:p>
        <a:p>
          <a:r>
            <a:rPr lang="en-US" dirty="0" smtClean="0"/>
            <a:t>Baseline</a:t>
          </a:r>
          <a:endParaRPr lang="en-US" dirty="0"/>
        </a:p>
      </dgm:t>
    </dgm:pt>
    <dgm:pt modelId="{FC8EFB4E-7233-4BEE-B485-C741D3E901B8}" type="parTrans" cxnId="{10EC86F5-00A5-4144-B7D5-016E9B9BE58E}">
      <dgm:prSet/>
      <dgm:spPr/>
      <dgm:t>
        <a:bodyPr/>
        <a:lstStyle/>
        <a:p>
          <a:endParaRPr lang="en-US"/>
        </a:p>
      </dgm:t>
    </dgm:pt>
    <dgm:pt modelId="{BB72AE4D-C181-4147-A606-1B014ECABBE3}" type="sibTrans" cxnId="{10EC86F5-00A5-4144-B7D5-016E9B9BE58E}">
      <dgm:prSet/>
      <dgm:spPr/>
      <dgm:t>
        <a:bodyPr/>
        <a:lstStyle/>
        <a:p>
          <a:endParaRPr lang="en-US"/>
        </a:p>
      </dgm:t>
    </dgm:pt>
    <dgm:pt modelId="{E100F2FA-3C21-4186-B8FC-E771E8508F11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 smtClean="0"/>
            <a:t>5</a:t>
          </a:r>
        </a:p>
        <a:p>
          <a:r>
            <a:rPr lang="en-US" dirty="0" smtClean="0"/>
            <a:t>Optimize</a:t>
          </a:r>
          <a:endParaRPr lang="en-US" dirty="0"/>
        </a:p>
      </dgm:t>
    </dgm:pt>
    <dgm:pt modelId="{242F12CB-C1C7-4139-8D46-C1A9BD1D068C}" type="parTrans" cxnId="{2A974F93-7824-448E-9F6E-5A10A71FD7E6}">
      <dgm:prSet/>
      <dgm:spPr/>
      <dgm:t>
        <a:bodyPr/>
        <a:lstStyle/>
        <a:p>
          <a:endParaRPr lang="en-US"/>
        </a:p>
      </dgm:t>
    </dgm:pt>
    <dgm:pt modelId="{0E1A013B-8DF8-490D-8501-F9B92E15DDD7}" type="sibTrans" cxnId="{2A974F93-7824-448E-9F6E-5A10A71FD7E6}">
      <dgm:prSet/>
      <dgm:spPr/>
      <dgm:t>
        <a:bodyPr/>
        <a:lstStyle/>
        <a:p>
          <a:endParaRPr lang="en-US"/>
        </a:p>
      </dgm:t>
    </dgm:pt>
    <dgm:pt modelId="{5BD8A98F-42F3-48B4-92DB-3FC572D131C0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 smtClean="0"/>
            <a:t>6</a:t>
          </a:r>
        </a:p>
        <a:p>
          <a:r>
            <a:rPr lang="en-US" dirty="0" smtClean="0"/>
            <a:t>Aggregate</a:t>
          </a:r>
          <a:endParaRPr lang="en-US" dirty="0"/>
        </a:p>
      </dgm:t>
    </dgm:pt>
    <dgm:pt modelId="{1B7BA728-74F5-4C9F-BBC5-5B53FDD9B3BE}" type="parTrans" cxnId="{71A10C47-35E3-48C3-9266-0AC5F253936B}">
      <dgm:prSet/>
      <dgm:spPr/>
      <dgm:t>
        <a:bodyPr/>
        <a:lstStyle/>
        <a:p>
          <a:endParaRPr lang="en-US"/>
        </a:p>
      </dgm:t>
    </dgm:pt>
    <dgm:pt modelId="{03B7BB36-6D0E-4479-94C3-47553B70BA8E}" type="sibTrans" cxnId="{71A10C47-35E3-48C3-9266-0AC5F253936B}">
      <dgm:prSet/>
      <dgm:spPr/>
      <dgm:t>
        <a:bodyPr/>
        <a:lstStyle/>
        <a:p>
          <a:endParaRPr lang="en-US"/>
        </a:p>
      </dgm:t>
    </dgm:pt>
    <dgm:pt modelId="{C8F28F04-5B20-4354-B480-0B04A5734981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 smtClean="0"/>
            <a:t>7</a:t>
          </a:r>
        </a:p>
        <a:p>
          <a:r>
            <a:rPr lang="en-US" dirty="0" smtClean="0"/>
            <a:t>Evaluate</a:t>
          </a:r>
          <a:endParaRPr lang="en-US" dirty="0"/>
        </a:p>
      </dgm:t>
    </dgm:pt>
    <dgm:pt modelId="{CEF843A4-F98B-4596-8B20-A0B02EF3C151}" type="parTrans" cxnId="{589AC1BD-3605-4EB1-9CD8-673DCD44249E}">
      <dgm:prSet/>
      <dgm:spPr/>
      <dgm:t>
        <a:bodyPr/>
        <a:lstStyle/>
        <a:p>
          <a:endParaRPr lang="en-US"/>
        </a:p>
      </dgm:t>
    </dgm:pt>
    <dgm:pt modelId="{A59C0DA3-6300-4487-A563-61906D2A297E}" type="sibTrans" cxnId="{589AC1BD-3605-4EB1-9CD8-673DCD44249E}">
      <dgm:prSet/>
      <dgm:spPr/>
      <dgm:t>
        <a:bodyPr/>
        <a:lstStyle/>
        <a:p>
          <a:endParaRPr lang="en-US"/>
        </a:p>
      </dgm:t>
    </dgm:pt>
    <dgm:pt modelId="{8D06B5AB-2783-416B-A8D4-66E39C0D1C6E}" type="pres">
      <dgm:prSet presAssocID="{C1EA178A-78EE-4C32-81A7-021A4EBC019D}" presName="diagram" presStyleCnt="0">
        <dgm:presLayoutVars>
          <dgm:dir/>
          <dgm:resizeHandles val="exact"/>
        </dgm:presLayoutVars>
      </dgm:prSet>
      <dgm:spPr/>
    </dgm:pt>
    <dgm:pt modelId="{0D0E7B97-775E-411F-A063-6701F0471C62}" type="pres">
      <dgm:prSet presAssocID="{D61E979B-CD5D-487D-9365-F9DCEBB89AD0}" presName="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67ABD59-DE18-4009-BEB6-DC89E418E2E1}" type="pres">
      <dgm:prSet presAssocID="{3FE0A1EC-ED98-4D61-BDCC-48709A83DEE3}" presName="sibTrans" presStyleCnt="0"/>
      <dgm:spPr/>
    </dgm:pt>
    <dgm:pt modelId="{5613658D-9C4F-4362-8E2D-E26F66723E05}" type="pres">
      <dgm:prSet presAssocID="{00BE6CC7-42DF-4E5D-800B-3D44CC75C478}" presName="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E3B61D9-055B-4130-B292-97FF9482445C}" type="pres">
      <dgm:prSet presAssocID="{ED63C8D9-5BE3-4E81-A7D9-6CD5586FB77F}" presName="sibTrans" presStyleCnt="0"/>
      <dgm:spPr/>
    </dgm:pt>
    <dgm:pt modelId="{02B15CFB-9D58-4640-AA51-5A42FF453A2F}" type="pres">
      <dgm:prSet presAssocID="{5F45F907-0F71-4789-8625-4E0F6BA5A1D9}" presName="node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3EAFDBE-3CA5-48EC-BFB7-410BC08F6641}" type="pres">
      <dgm:prSet presAssocID="{10AFD36F-7579-4E1E-B8B8-4833C0DCF9DF}" presName="sibTrans" presStyleCnt="0"/>
      <dgm:spPr/>
    </dgm:pt>
    <dgm:pt modelId="{36FD351C-FA25-475E-9F07-D404631DA7A7}" type="pres">
      <dgm:prSet presAssocID="{3F1936DA-2E28-4CF6-8EF1-DBDB6DFE2CF3}" presName="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B023E03-897D-402A-A476-4A15B573049C}" type="pres">
      <dgm:prSet presAssocID="{BB72AE4D-C181-4147-A606-1B014ECABBE3}" presName="sibTrans" presStyleCnt="0"/>
      <dgm:spPr/>
    </dgm:pt>
    <dgm:pt modelId="{2B6EF137-9CDF-46D0-BF63-61FFC7A80148}" type="pres">
      <dgm:prSet presAssocID="{E100F2FA-3C21-4186-B8FC-E771E8508F11}" presName="node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D821604-5ABB-424D-B627-C14807C84F82}" type="pres">
      <dgm:prSet presAssocID="{0E1A013B-8DF8-490D-8501-F9B92E15DDD7}" presName="sibTrans" presStyleCnt="0"/>
      <dgm:spPr/>
    </dgm:pt>
    <dgm:pt modelId="{ABCC128F-ADEC-4408-8BC8-E4E22A6AEA4B}" type="pres">
      <dgm:prSet presAssocID="{5BD8A98F-42F3-48B4-92DB-3FC572D131C0}" presName="node" presStyleLbl="node1" presStyleIdx="5" presStyleCnt="7" custLinFactX="-63880" custLinFactNeighborX="-100000" custLinFactNeighborY="-985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C692B9D-F38F-4599-A3D1-57797988B491}" type="pres">
      <dgm:prSet presAssocID="{03B7BB36-6D0E-4479-94C3-47553B70BA8E}" presName="sibTrans" presStyleCnt="0"/>
      <dgm:spPr/>
    </dgm:pt>
    <dgm:pt modelId="{52197041-BC7D-4297-AA94-D7895875F10F}" type="pres">
      <dgm:prSet presAssocID="{C8F28F04-5B20-4354-B480-0B04A5734981}" presName="node" presStyleLbl="node1" presStyleIdx="6" presStyleCnt="7" custLinFactX="-64960" custLinFactNeighborX="-100000" custLinFactNeighborY="-1120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1A10C47-35E3-48C3-9266-0AC5F253936B}" srcId="{C1EA178A-78EE-4C32-81A7-021A4EBC019D}" destId="{5BD8A98F-42F3-48B4-92DB-3FC572D131C0}" srcOrd="5" destOrd="0" parTransId="{1B7BA728-74F5-4C9F-BBC5-5B53FDD9B3BE}" sibTransId="{03B7BB36-6D0E-4479-94C3-47553B70BA8E}"/>
    <dgm:cxn modelId="{FB00D526-3CF7-4A3C-8A2E-16AC0474ECF8}" type="presOf" srcId="{E100F2FA-3C21-4186-B8FC-E771E8508F11}" destId="{2B6EF137-9CDF-46D0-BF63-61FFC7A80148}" srcOrd="0" destOrd="0" presId="urn:microsoft.com/office/officeart/2005/8/layout/default"/>
    <dgm:cxn modelId="{23D7EB21-2DCF-4EEB-ADD8-11B3C1477E9E}" srcId="{C1EA178A-78EE-4C32-81A7-021A4EBC019D}" destId="{00BE6CC7-42DF-4E5D-800B-3D44CC75C478}" srcOrd="1" destOrd="0" parTransId="{0A0CD4B3-BF8F-4D1C-8D7B-CFF5411D36D0}" sibTransId="{ED63C8D9-5BE3-4E81-A7D9-6CD5586FB77F}"/>
    <dgm:cxn modelId="{CA367BF1-C021-4A0F-A5E3-2817DD0D62EF}" type="presOf" srcId="{5F45F907-0F71-4789-8625-4E0F6BA5A1D9}" destId="{02B15CFB-9D58-4640-AA51-5A42FF453A2F}" srcOrd="0" destOrd="0" presId="urn:microsoft.com/office/officeart/2005/8/layout/default"/>
    <dgm:cxn modelId="{D312567D-80F4-4114-BCDE-4A267C2BFA49}" type="presOf" srcId="{3F1936DA-2E28-4CF6-8EF1-DBDB6DFE2CF3}" destId="{36FD351C-FA25-475E-9F07-D404631DA7A7}" srcOrd="0" destOrd="0" presId="urn:microsoft.com/office/officeart/2005/8/layout/default"/>
    <dgm:cxn modelId="{589AC1BD-3605-4EB1-9CD8-673DCD44249E}" srcId="{C1EA178A-78EE-4C32-81A7-021A4EBC019D}" destId="{C8F28F04-5B20-4354-B480-0B04A5734981}" srcOrd="6" destOrd="0" parTransId="{CEF843A4-F98B-4596-8B20-A0B02EF3C151}" sibTransId="{A59C0DA3-6300-4487-A563-61906D2A297E}"/>
    <dgm:cxn modelId="{10EC86F5-00A5-4144-B7D5-016E9B9BE58E}" srcId="{C1EA178A-78EE-4C32-81A7-021A4EBC019D}" destId="{3F1936DA-2E28-4CF6-8EF1-DBDB6DFE2CF3}" srcOrd="3" destOrd="0" parTransId="{FC8EFB4E-7233-4BEE-B485-C741D3E901B8}" sibTransId="{BB72AE4D-C181-4147-A606-1B014ECABBE3}"/>
    <dgm:cxn modelId="{5B143705-9DC7-4E70-B3FD-904A069A0068}" srcId="{C1EA178A-78EE-4C32-81A7-021A4EBC019D}" destId="{D61E979B-CD5D-487D-9365-F9DCEBB89AD0}" srcOrd="0" destOrd="0" parTransId="{59129F39-BCB5-4DA6-B214-FB2377790D09}" sibTransId="{3FE0A1EC-ED98-4D61-BDCC-48709A83DEE3}"/>
    <dgm:cxn modelId="{7C2B2D9E-7699-4BAA-A9AC-E30D88CD2C57}" type="presOf" srcId="{D61E979B-CD5D-487D-9365-F9DCEBB89AD0}" destId="{0D0E7B97-775E-411F-A063-6701F0471C62}" srcOrd="0" destOrd="0" presId="urn:microsoft.com/office/officeart/2005/8/layout/default"/>
    <dgm:cxn modelId="{94345102-E619-41E2-86C4-37806356D3CD}" type="presOf" srcId="{C8F28F04-5B20-4354-B480-0B04A5734981}" destId="{52197041-BC7D-4297-AA94-D7895875F10F}" srcOrd="0" destOrd="0" presId="urn:microsoft.com/office/officeart/2005/8/layout/default"/>
    <dgm:cxn modelId="{DAEF15AA-028E-4BF6-BBE7-CAC4AE191706}" srcId="{C1EA178A-78EE-4C32-81A7-021A4EBC019D}" destId="{5F45F907-0F71-4789-8625-4E0F6BA5A1D9}" srcOrd="2" destOrd="0" parTransId="{2470CA7A-4E39-4E9C-B1FA-DF2DAB2CE2D7}" sibTransId="{10AFD36F-7579-4E1E-B8B8-4833C0DCF9DF}"/>
    <dgm:cxn modelId="{3BC0D87C-255E-4645-9E1E-07476227B836}" type="presOf" srcId="{C1EA178A-78EE-4C32-81A7-021A4EBC019D}" destId="{8D06B5AB-2783-416B-A8D4-66E39C0D1C6E}" srcOrd="0" destOrd="0" presId="urn:microsoft.com/office/officeart/2005/8/layout/default"/>
    <dgm:cxn modelId="{0788B046-A6EC-4139-92BD-D1315E987ADA}" type="presOf" srcId="{00BE6CC7-42DF-4E5D-800B-3D44CC75C478}" destId="{5613658D-9C4F-4362-8E2D-E26F66723E05}" srcOrd="0" destOrd="0" presId="urn:microsoft.com/office/officeart/2005/8/layout/default"/>
    <dgm:cxn modelId="{4D57458E-F354-4FFB-914F-F979C63AA8DC}" type="presOf" srcId="{5BD8A98F-42F3-48B4-92DB-3FC572D131C0}" destId="{ABCC128F-ADEC-4408-8BC8-E4E22A6AEA4B}" srcOrd="0" destOrd="0" presId="urn:microsoft.com/office/officeart/2005/8/layout/default"/>
    <dgm:cxn modelId="{2A974F93-7824-448E-9F6E-5A10A71FD7E6}" srcId="{C1EA178A-78EE-4C32-81A7-021A4EBC019D}" destId="{E100F2FA-3C21-4186-B8FC-E771E8508F11}" srcOrd="4" destOrd="0" parTransId="{242F12CB-C1C7-4139-8D46-C1A9BD1D068C}" sibTransId="{0E1A013B-8DF8-490D-8501-F9B92E15DDD7}"/>
    <dgm:cxn modelId="{36D1AA81-F3BB-4E61-98C1-D82C54FEAC4C}" type="presParOf" srcId="{8D06B5AB-2783-416B-A8D4-66E39C0D1C6E}" destId="{0D0E7B97-775E-411F-A063-6701F0471C62}" srcOrd="0" destOrd="0" presId="urn:microsoft.com/office/officeart/2005/8/layout/default"/>
    <dgm:cxn modelId="{3C48AC5E-9E75-4231-94D5-0DD3175F593E}" type="presParOf" srcId="{8D06B5AB-2783-416B-A8D4-66E39C0D1C6E}" destId="{C67ABD59-DE18-4009-BEB6-DC89E418E2E1}" srcOrd="1" destOrd="0" presId="urn:microsoft.com/office/officeart/2005/8/layout/default"/>
    <dgm:cxn modelId="{9A2D45A7-FCB0-479A-AE3D-8797778BF6E8}" type="presParOf" srcId="{8D06B5AB-2783-416B-A8D4-66E39C0D1C6E}" destId="{5613658D-9C4F-4362-8E2D-E26F66723E05}" srcOrd="2" destOrd="0" presId="urn:microsoft.com/office/officeart/2005/8/layout/default"/>
    <dgm:cxn modelId="{407608A2-A2E6-4AF6-86C7-35FAEBA1E23E}" type="presParOf" srcId="{8D06B5AB-2783-416B-A8D4-66E39C0D1C6E}" destId="{0E3B61D9-055B-4130-B292-97FF9482445C}" srcOrd="3" destOrd="0" presId="urn:microsoft.com/office/officeart/2005/8/layout/default"/>
    <dgm:cxn modelId="{AA9D6DC4-78A8-4A84-93C0-24883007F151}" type="presParOf" srcId="{8D06B5AB-2783-416B-A8D4-66E39C0D1C6E}" destId="{02B15CFB-9D58-4640-AA51-5A42FF453A2F}" srcOrd="4" destOrd="0" presId="urn:microsoft.com/office/officeart/2005/8/layout/default"/>
    <dgm:cxn modelId="{9599F76B-6450-4F29-B0DF-3B16C4316B48}" type="presParOf" srcId="{8D06B5AB-2783-416B-A8D4-66E39C0D1C6E}" destId="{63EAFDBE-3CA5-48EC-BFB7-410BC08F6641}" srcOrd="5" destOrd="0" presId="urn:microsoft.com/office/officeart/2005/8/layout/default"/>
    <dgm:cxn modelId="{E56F5FF2-41B7-4016-84FE-3946A3248B77}" type="presParOf" srcId="{8D06B5AB-2783-416B-A8D4-66E39C0D1C6E}" destId="{36FD351C-FA25-475E-9F07-D404631DA7A7}" srcOrd="6" destOrd="0" presId="urn:microsoft.com/office/officeart/2005/8/layout/default"/>
    <dgm:cxn modelId="{E8405585-1F7D-43B2-A34B-9E1713FB92D8}" type="presParOf" srcId="{8D06B5AB-2783-416B-A8D4-66E39C0D1C6E}" destId="{0B023E03-897D-402A-A476-4A15B573049C}" srcOrd="7" destOrd="0" presId="urn:microsoft.com/office/officeart/2005/8/layout/default"/>
    <dgm:cxn modelId="{408348BC-EC84-494F-B24E-68053530696C}" type="presParOf" srcId="{8D06B5AB-2783-416B-A8D4-66E39C0D1C6E}" destId="{2B6EF137-9CDF-46D0-BF63-61FFC7A80148}" srcOrd="8" destOrd="0" presId="urn:microsoft.com/office/officeart/2005/8/layout/default"/>
    <dgm:cxn modelId="{A65AC506-4985-4143-8ED3-4D7477FF9172}" type="presParOf" srcId="{8D06B5AB-2783-416B-A8D4-66E39C0D1C6E}" destId="{6D821604-5ABB-424D-B627-C14807C84F82}" srcOrd="9" destOrd="0" presId="urn:microsoft.com/office/officeart/2005/8/layout/default"/>
    <dgm:cxn modelId="{7D235A9D-DEA5-4224-B175-868EFE70E3DC}" type="presParOf" srcId="{8D06B5AB-2783-416B-A8D4-66E39C0D1C6E}" destId="{ABCC128F-ADEC-4408-8BC8-E4E22A6AEA4B}" srcOrd="10" destOrd="0" presId="urn:microsoft.com/office/officeart/2005/8/layout/default"/>
    <dgm:cxn modelId="{254DB37C-A108-428A-B087-F65527D81984}" type="presParOf" srcId="{8D06B5AB-2783-416B-A8D4-66E39C0D1C6E}" destId="{BC692B9D-F38F-4599-A3D1-57797988B491}" srcOrd="11" destOrd="0" presId="urn:microsoft.com/office/officeart/2005/8/layout/default"/>
    <dgm:cxn modelId="{EF710D88-01D7-4176-8F8C-600E15BA0678}" type="presParOf" srcId="{8D06B5AB-2783-416B-A8D4-66E39C0D1C6E}" destId="{52197041-BC7D-4297-AA94-D7895875F10F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0E7B97-775E-411F-A063-6701F0471C62}">
      <dsp:nvSpPr>
        <dsp:cNvPr id="0" name=""/>
        <dsp:cNvSpPr/>
      </dsp:nvSpPr>
      <dsp:spPr>
        <a:xfrm>
          <a:off x="533146" y="619"/>
          <a:ext cx="1759951" cy="1055970"/>
        </a:xfrm>
        <a:prstGeom prst="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1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Data Prep</a:t>
          </a:r>
          <a:endParaRPr lang="en-US" sz="2400" kern="1200" dirty="0"/>
        </a:p>
      </dsp:txBody>
      <dsp:txXfrm>
        <a:off x="533146" y="619"/>
        <a:ext cx="1759951" cy="1055970"/>
      </dsp:txXfrm>
    </dsp:sp>
    <dsp:sp modelId="{5613658D-9C4F-4362-8E2D-E26F66723E05}">
      <dsp:nvSpPr>
        <dsp:cNvPr id="0" name=""/>
        <dsp:cNvSpPr/>
      </dsp:nvSpPr>
      <dsp:spPr>
        <a:xfrm>
          <a:off x="2469092" y="619"/>
          <a:ext cx="1759951" cy="1055970"/>
        </a:xfrm>
        <a:prstGeom prst="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2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Provision</a:t>
          </a:r>
          <a:endParaRPr lang="en-US" sz="2400" kern="1200" dirty="0"/>
        </a:p>
      </dsp:txBody>
      <dsp:txXfrm>
        <a:off x="2469092" y="619"/>
        <a:ext cx="1759951" cy="1055970"/>
      </dsp:txXfrm>
    </dsp:sp>
    <dsp:sp modelId="{02B15CFB-9D58-4640-AA51-5A42FF453A2F}">
      <dsp:nvSpPr>
        <dsp:cNvPr id="0" name=""/>
        <dsp:cNvSpPr/>
      </dsp:nvSpPr>
      <dsp:spPr>
        <a:xfrm>
          <a:off x="4405039" y="619"/>
          <a:ext cx="1759951" cy="1055970"/>
        </a:xfrm>
        <a:prstGeom prst="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3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Ingest Data</a:t>
          </a:r>
          <a:endParaRPr lang="en-US" sz="2400" kern="1200" dirty="0"/>
        </a:p>
      </dsp:txBody>
      <dsp:txXfrm>
        <a:off x="4405039" y="619"/>
        <a:ext cx="1759951" cy="1055970"/>
      </dsp:txXfrm>
    </dsp:sp>
    <dsp:sp modelId="{36FD351C-FA25-475E-9F07-D404631DA7A7}">
      <dsp:nvSpPr>
        <dsp:cNvPr id="0" name=""/>
        <dsp:cNvSpPr/>
      </dsp:nvSpPr>
      <dsp:spPr>
        <a:xfrm>
          <a:off x="6340985" y="619"/>
          <a:ext cx="1759951" cy="1055970"/>
        </a:xfrm>
        <a:prstGeom prst="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4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Baseline</a:t>
          </a:r>
          <a:endParaRPr lang="en-US" sz="2400" kern="1200" dirty="0"/>
        </a:p>
      </dsp:txBody>
      <dsp:txXfrm>
        <a:off x="6340985" y="619"/>
        <a:ext cx="1759951" cy="1055970"/>
      </dsp:txXfrm>
    </dsp:sp>
    <dsp:sp modelId="{2B6EF137-9CDF-46D0-BF63-61FFC7A80148}">
      <dsp:nvSpPr>
        <dsp:cNvPr id="0" name=""/>
        <dsp:cNvSpPr/>
      </dsp:nvSpPr>
      <dsp:spPr>
        <a:xfrm>
          <a:off x="8276932" y="619"/>
          <a:ext cx="1759951" cy="1055970"/>
        </a:xfrm>
        <a:prstGeom prst="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5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Optimize</a:t>
          </a:r>
          <a:endParaRPr lang="en-US" sz="2400" kern="1200" dirty="0"/>
        </a:p>
      </dsp:txBody>
      <dsp:txXfrm>
        <a:off x="8276932" y="619"/>
        <a:ext cx="1759951" cy="1055970"/>
      </dsp:txXfrm>
    </dsp:sp>
    <dsp:sp modelId="{ABCC128F-ADEC-4408-8BC8-E4E22A6AEA4B}">
      <dsp:nvSpPr>
        <dsp:cNvPr id="0" name=""/>
        <dsp:cNvSpPr/>
      </dsp:nvSpPr>
      <dsp:spPr>
        <a:xfrm>
          <a:off x="552857" y="1128508"/>
          <a:ext cx="1759951" cy="1055970"/>
        </a:xfrm>
        <a:prstGeom prst="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6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Aggregate</a:t>
          </a:r>
          <a:endParaRPr lang="en-US" sz="2400" kern="1200" dirty="0"/>
        </a:p>
      </dsp:txBody>
      <dsp:txXfrm>
        <a:off x="552857" y="1128508"/>
        <a:ext cx="1759951" cy="1055970"/>
      </dsp:txXfrm>
    </dsp:sp>
    <dsp:sp modelId="{52197041-BC7D-4297-AA94-D7895875F10F}">
      <dsp:nvSpPr>
        <dsp:cNvPr id="0" name=""/>
        <dsp:cNvSpPr/>
      </dsp:nvSpPr>
      <dsp:spPr>
        <a:xfrm>
          <a:off x="2469796" y="1114295"/>
          <a:ext cx="1759951" cy="1055970"/>
        </a:xfrm>
        <a:prstGeom prst="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7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Evaluate</a:t>
          </a:r>
          <a:endParaRPr lang="en-US" sz="2400" kern="1200" dirty="0"/>
        </a:p>
      </dsp:txBody>
      <dsp:txXfrm>
        <a:off x="2469796" y="1114295"/>
        <a:ext cx="1759951" cy="10559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0901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9034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o15.officeredir.microsoft.com/r/rlid2013GettingStartedCntrPPT?clid=1033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Optimizing Query Performance in Cloud Data Warehousing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A Comparative Analysis of Microsoft Azure Synapse, Amazon Redshift, and Oracle Autonomous Data </a:t>
            </a:r>
            <a:r>
              <a:rPr lang="en-US" b="1" dirty="0" smtClean="0"/>
              <a:t>Warehouse</a:t>
            </a:r>
          </a:p>
          <a:p>
            <a:r>
              <a:rPr lang="en-GB" i="1" dirty="0" smtClean="0"/>
              <a:t>By Cruz Bello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Research Context &amp; </a:t>
            </a:r>
            <a:r>
              <a:rPr lang="en-US" b="1" dirty="0" smtClean="0"/>
              <a:t>Problem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38200" y="1978024"/>
            <a:ext cx="416775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dirty="0"/>
              <a:t>Context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• Cloud data warehouses now essential for modern analytics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• SMEs face challenges selecting optimal platforms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• Performance varies significantly across platforms</a:t>
            </a:r>
            <a:endParaRPr lang="en-US" sz="1600" dirty="0"/>
          </a:p>
        </p:txBody>
      </p:sp>
      <p:sp>
        <p:nvSpPr>
          <p:cNvPr id="9" name="Rectangle 8"/>
          <p:cNvSpPr/>
          <p:nvPr/>
        </p:nvSpPr>
        <p:spPr>
          <a:xfrm>
            <a:off x="730856" y="4512895"/>
            <a:ext cx="1123254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Research Objectives</a:t>
            </a:r>
          </a:p>
          <a:p>
            <a:r>
              <a:rPr lang="en-US" sz="1600" dirty="0"/>
              <a:t>1. Benchmark three leading platforms using TPC-DS and TPC-H at 10GB scale</a:t>
            </a:r>
          </a:p>
          <a:p>
            <a:r>
              <a:rPr lang="en-US" sz="1600" dirty="0"/>
              <a:t>2. Evaluate platform-specific optimization strategies</a:t>
            </a:r>
          </a:p>
          <a:p>
            <a:r>
              <a:rPr lang="en-US" sz="1600" dirty="0"/>
              <a:t>3. Develop evidence-based decision framework for SMEs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67400" y="1978024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b="1" dirty="0"/>
              <a:t>Research Gap</a:t>
            </a:r>
          </a:p>
          <a:p>
            <a:r>
              <a:rPr lang="en-US" sz="1600" dirty="0"/>
              <a:t>• Conflicting benchmark results in </a:t>
            </a:r>
            <a:r>
              <a:rPr lang="en-US" sz="1600" dirty="0" smtClean="0"/>
              <a:t>literature</a:t>
            </a:r>
          </a:p>
          <a:p>
            <a:r>
              <a:rPr lang="en-US" sz="1600" dirty="0" smtClean="0"/>
              <a:t>• </a:t>
            </a:r>
            <a:r>
              <a:rPr lang="en-US" sz="1600" dirty="0"/>
              <a:t>No neutral comparison under identical conditions</a:t>
            </a:r>
          </a:p>
          <a:p>
            <a:r>
              <a:rPr lang="en-US" sz="1600" dirty="0"/>
              <a:t>• Limited guidance for SME adoption decisions</a:t>
            </a:r>
          </a:p>
        </p:txBody>
      </p:sp>
    </p:spTree>
    <p:extLst>
      <p:ext uri="{BB962C8B-B14F-4D97-AF65-F5344CB8AC3E}">
        <p14:creationId xmlns:p14="http://schemas.microsoft.com/office/powerpoint/2010/main" val="31022960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Research Context &amp; </a:t>
            </a:r>
            <a:r>
              <a:rPr lang="en-US" b="1" dirty="0" smtClean="0"/>
              <a:t>Problem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38200" y="1978024"/>
            <a:ext cx="416775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dirty="0"/>
              <a:t>Context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• Cloud data warehouses now essential for modern analytics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• SMEs face challenges selecting optimal platforms</a:t>
            </a:r>
          </a:p>
          <a:p>
            <a:pPr>
              <a:lnSpc>
                <a:spcPct val="100000"/>
              </a:lnSpc>
            </a:pPr>
            <a:r>
              <a:rPr lang="en-US" sz="1600" dirty="0"/>
              <a:t>• Performance varies significantly across platforms</a:t>
            </a:r>
            <a:endParaRPr lang="en-US" sz="1600" dirty="0"/>
          </a:p>
        </p:txBody>
      </p:sp>
      <p:sp>
        <p:nvSpPr>
          <p:cNvPr id="9" name="Rectangle 8"/>
          <p:cNvSpPr/>
          <p:nvPr/>
        </p:nvSpPr>
        <p:spPr>
          <a:xfrm>
            <a:off x="730856" y="4512895"/>
            <a:ext cx="1123254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Research Objectives</a:t>
            </a:r>
          </a:p>
          <a:p>
            <a:r>
              <a:rPr lang="en-US" sz="1600" dirty="0"/>
              <a:t>1. Benchmark three leading platforms using TPC-DS and TPC-H at 10GB scale</a:t>
            </a:r>
          </a:p>
          <a:p>
            <a:r>
              <a:rPr lang="en-US" sz="1600" dirty="0"/>
              <a:t>2. Evaluate platform-specific optimization strategies</a:t>
            </a:r>
          </a:p>
          <a:p>
            <a:r>
              <a:rPr lang="en-US" sz="1600" dirty="0"/>
              <a:t>3. Develop evidence-based decision framework for SMEs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67400" y="1978024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b="1" dirty="0"/>
              <a:t>Research Gap</a:t>
            </a:r>
          </a:p>
          <a:p>
            <a:r>
              <a:rPr lang="en-US" sz="1600" dirty="0"/>
              <a:t>• Conflicting benchmark results in </a:t>
            </a:r>
            <a:r>
              <a:rPr lang="en-US" sz="1600" dirty="0" smtClean="0"/>
              <a:t>literature</a:t>
            </a:r>
          </a:p>
          <a:p>
            <a:r>
              <a:rPr lang="en-US" sz="1600" dirty="0" smtClean="0"/>
              <a:t>• </a:t>
            </a:r>
            <a:r>
              <a:rPr lang="en-US" sz="1600" dirty="0"/>
              <a:t>No neutral comparison under identical conditions</a:t>
            </a:r>
          </a:p>
          <a:p>
            <a:r>
              <a:rPr lang="en-US" sz="1600" dirty="0"/>
              <a:t>• Limited guidance for SME adoption decisions</a:t>
            </a:r>
          </a:p>
        </p:txBody>
      </p:sp>
    </p:spTree>
    <p:extLst>
      <p:ext uri="{BB962C8B-B14F-4D97-AF65-F5344CB8AC3E}">
        <p14:creationId xmlns:p14="http://schemas.microsoft.com/office/powerpoint/2010/main" val="30409019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Research </a:t>
            </a:r>
            <a:r>
              <a:rPr lang="en-US" b="1" dirty="0"/>
              <a:t>Methodology</a:t>
            </a:r>
            <a:br>
              <a:rPr lang="en-US" b="1" dirty="0"/>
            </a:br>
            <a:r>
              <a:rPr lang="en-US" b="1" dirty="0"/>
              <a:t>Seven-Phase Experimental </a:t>
            </a:r>
            <a:r>
              <a:rPr lang="en-US" b="1" dirty="0" smtClean="0"/>
              <a:t>Pipeline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7996895"/>
              </p:ext>
            </p:extLst>
          </p:nvPr>
        </p:nvGraphicFramePr>
        <p:xfrm>
          <a:off x="783771" y="1825625"/>
          <a:ext cx="10570030" cy="22891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Rectangle 7"/>
          <p:cNvSpPr/>
          <p:nvPr/>
        </p:nvSpPr>
        <p:spPr>
          <a:xfrm>
            <a:off x="1364076" y="4262203"/>
            <a:ext cx="345349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Benchmarks</a:t>
            </a:r>
          </a:p>
          <a:p>
            <a:r>
              <a:rPr lang="en-US" sz="1600" dirty="0"/>
              <a:t>• TPC-DS: 99 queries, 24 tables</a:t>
            </a:r>
          </a:p>
          <a:p>
            <a:r>
              <a:rPr lang="en-US" sz="1600" dirty="0"/>
              <a:t>• TPC-H: 22 queries, 8 tables</a:t>
            </a:r>
          </a:p>
          <a:p>
            <a:r>
              <a:rPr lang="en-US" sz="1600" dirty="0"/>
              <a:t>• Scale Factor: 10GB (SME-representative)</a:t>
            </a:r>
          </a:p>
        </p:txBody>
      </p:sp>
      <p:sp>
        <p:nvSpPr>
          <p:cNvPr id="9" name="Rectangle 8"/>
          <p:cNvSpPr/>
          <p:nvPr/>
        </p:nvSpPr>
        <p:spPr>
          <a:xfrm>
            <a:off x="5257801" y="4262203"/>
            <a:ext cx="6096000" cy="206210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b="1" dirty="0"/>
              <a:t>Statistical Analysis</a:t>
            </a:r>
          </a:p>
          <a:p>
            <a:r>
              <a:rPr lang="en-US" sz="1600" dirty="0"/>
              <a:t>• Kruskal-Wallis H-test (</a:t>
            </a:r>
            <a:r>
              <a:rPr lang="el-GR" sz="1600" dirty="0"/>
              <a:t>α=0.05</a:t>
            </a:r>
            <a:r>
              <a:rPr lang="el-GR" sz="1600" dirty="0" smtClean="0"/>
              <a:t>)</a:t>
            </a:r>
            <a:r>
              <a:rPr lang="en-GB" sz="1600" dirty="0" smtClean="0"/>
              <a:t> - </a:t>
            </a:r>
            <a:r>
              <a:rPr lang="en-US" sz="1200" dirty="0"/>
              <a:t>Tests whether there are statistically significant differences in median query latency across the three </a:t>
            </a:r>
            <a:r>
              <a:rPr lang="en-US" sz="1200" dirty="0" smtClean="0"/>
              <a:t>platforms and complexity level</a:t>
            </a:r>
            <a:endParaRPr lang="el-GR" sz="1200" dirty="0"/>
          </a:p>
          <a:p>
            <a:r>
              <a:rPr lang="el-GR" sz="1600" dirty="0"/>
              <a:t>• </a:t>
            </a:r>
            <a:r>
              <a:rPr lang="en-US" sz="1600" dirty="0"/>
              <a:t>Dunn's post-hoc </a:t>
            </a:r>
            <a:r>
              <a:rPr lang="en-US" sz="1600" dirty="0" smtClean="0"/>
              <a:t>comparisons - </a:t>
            </a:r>
            <a:r>
              <a:rPr lang="en-US" sz="1200" dirty="0" smtClean="0"/>
              <a:t>After </a:t>
            </a:r>
            <a:r>
              <a:rPr lang="en-US" sz="1200" dirty="0"/>
              <a:t>Kruskal-Wallis detects differences, Dunn's test identifies which specific pairs of platforms differ from each other.</a:t>
            </a:r>
          </a:p>
          <a:p>
            <a:r>
              <a:rPr lang="en-US" sz="1600" dirty="0"/>
              <a:t>• Cliff's Delta effect sizes - </a:t>
            </a:r>
            <a:r>
              <a:rPr lang="en-US" sz="1200" dirty="0"/>
              <a:t>Quantifies how large the performance difference is between platforms, not just whether it's statistically significant.</a:t>
            </a:r>
          </a:p>
          <a:p>
            <a:r>
              <a:rPr lang="en-US" sz="1600" dirty="0"/>
              <a:t>• n=20 iterations per query</a:t>
            </a:r>
          </a:p>
        </p:txBody>
      </p:sp>
    </p:spTree>
    <p:extLst>
      <p:ext uri="{BB962C8B-B14F-4D97-AF65-F5344CB8AC3E}">
        <p14:creationId xmlns:p14="http://schemas.microsoft.com/office/powerpoint/2010/main" val="694498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Platform Configurations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8030088"/>
              </p:ext>
            </p:extLst>
          </p:nvPr>
        </p:nvGraphicFramePr>
        <p:xfrm>
          <a:off x="763323" y="2294752"/>
          <a:ext cx="10066352" cy="22439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6588"/>
                <a:gridCol w="2516588"/>
                <a:gridCol w="2516588"/>
                <a:gridCol w="2516588"/>
              </a:tblGrid>
              <a:tr h="3371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 smtClean="0"/>
                        <a:t>Platform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Configuration</a:t>
                      </a:r>
                    </a:p>
                    <a:p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 smtClean="0"/>
                        <a:t>Cost/Hour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 smtClean="0"/>
                        <a:t>Justification</a:t>
                      </a:r>
                      <a:endParaRPr lang="en-US" sz="1400" dirty="0"/>
                    </a:p>
                  </a:txBody>
                  <a:tcPr/>
                </a:tc>
              </a:tr>
              <a:tr h="575276">
                <a:tc>
                  <a:txBody>
                    <a:bodyPr/>
                    <a:lstStyle/>
                    <a:p>
                      <a:r>
                        <a:rPr lang="en-US" sz="1400" dirty="0"/>
                        <a:t>Azure Synapse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DW200c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$1.60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Vendor minimum Gen2 production tier</a:t>
                      </a:r>
                    </a:p>
                  </a:txBody>
                  <a:tcPr anchor="ctr"/>
                </a:tc>
              </a:tr>
              <a:tr h="575276">
                <a:tc>
                  <a:txBody>
                    <a:bodyPr/>
                    <a:lstStyle/>
                    <a:p>
                      <a:r>
                        <a:rPr lang="en-US" sz="1400"/>
                        <a:t>Amazon Redshift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2 × RA3.large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$1.08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Minimum RA3 cluster (32GB per node)</a:t>
                      </a:r>
                    </a:p>
                  </a:txBody>
                  <a:tcPr anchor="ctr"/>
                </a:tc>
              </a:tr>
              <a:tr h="575276">
                <a:tc>
                  <a:txBody>
                    <a:bodyPr/>
                    <a:lstStyle/>
                    <a:p>
                      <a:r>
                        <a:rPr lang="en-US" sz="1400"/>
                        <a:t>Oracle ADW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4 ECPUs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$1.04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Minimum ADW ECPU configuration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3325" y="1789044"/>
            <a:ext cx="10066351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Strategy:</a:t>
            </a:r>
            <a:r>
              <a:rPr lang="en-US" dirty="0"/>
              <a:t> Minimum production-tier matching to reflect real-world SME adoption constraints</a:t>
            </a:r>
          </a:p>
        </p:txBody>
      </p:sp>
    </p:spTree>
    <p:extLst>
      <p:ext uri="{BB962C8B-B14F-4D97-AF65-F5344CB8AC3E}">
        <p14:creationId xmlns:p14="http://schemas.microsoft.com/office/powerpoint/2010/main" val="3976861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Baseline Performance Results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0217973"/>
              </p:ext>
            </p:extLst>
          </p:nvPr>
        </p:nvGraphicFramePr>
        <p:xfrm>
          <a:off x="763322" y="2212737"/>
          <a:ext cx="4874152" cy="2092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538"/>
                <a:gridCol w="1218538"/>
                <a:gridCol w="1218538"/>
                <a:gridCol w="1218538"/>
              </a:tblGrid>
              <a:tr h="379388">
                <a:tc>
                  <a:txBody>
                    <a:bodyPr/>
                    <a:lstStyle/>
                    <a:p>
                      <a:r>
                        <a:rPr lang="en-US" sz="1400" dirty="0"/>
                        <a:t>Platform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p50 (s)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p99 (s)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QPH</a:t>
                      </a:r>
                    </a:p>
                  </a:txBody>
                  <a:tcPr anchor="ctr"/>
                </a:tc>
              </a:tr>
              <a:tr h="580445">
                <a:tc>
                  <a:txBody>
                    <a:bodyPr/>
                    <a:lstStyle/>
                    <a:p>
                      <a:r>
                        <a:rPr lang="en-US" sz="1200" dirty="0"/>
                        <a:t>Oracle ADW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0.014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0.225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148,072</a:t>
                      </a:r>
                    </a:p>
                  </a:txBody>
                  <a:tcPr anchor="ctr"/>
                </a:tc>
              </a:tr>
              <a:tr h="576324">
                <a:tc>
                  <a:txBody>
                    <a:bodyPr/>
                    <a:lstStyle/>
                    <a:p>
                      <a:r>
                        <a:rPr lang="en-US" sz="1200"/>
                        <a:t>Redshift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0.229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191,168</a:t>
                      </a:r>
                    </a:p>
                  </a:txBody>
                  <a:tcPr anchor="ctr"/>
                </a:tc>
              </a:tr>
              <a:tr h="556591">
                <a:tc>
                  <a:txBody>
                    <a:bodyPr/>
                    <a:lstStyle/>
                    <a:p>
                      <a:r>
                        <a:rPr lang="en-US" sz="1200"/>
                        <a:t>Synapse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4.080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27.342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2,414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3325" y="1566407"/>
            <a:ext cx="4874150" cy="52322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sz="1400" b="1" dirty="0"/>
              <a:t>Baseline Performance Results</a:t>
            </a:r>
          </a:p>
          <a:p>
            <a:r>
              <a:rPr lang="en-US" sz="1400" b="1" dirty="0"/>
              <a:t>TPC-DS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27752" y="1566407"/>
            <a:ext cx="5326049" cy="52322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sz="1400" b="1" dirty="0"/>
              <a:t>Baseline Performance Results</a:t>
            </a:r>
          </a:p>
          <a:p>
            <a:r>
              <a:rPr lang="en-US" sz="1400" b="1" dirty="0" smtClean="0"/>
              <a:t>TPC-H </a:t>
            </a:r>
            <a:r>
              <a:rPr lang="en-US" sz="1400" b="1" dirty="0"/>
              <a:t>Performance</a:t>
            </a: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25311359"/>
              </p:ext>
            </p:extLst>
          </p:nvPr>
        </p:nvGraphicFramePr>
        <p:xfrm>
          <a:off x="6019797" y="2212737"/>
          <a:ext cx="5334004" cy="2073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501"/>
                <a:gridCol w="1333501"/>
                <a:gridCol w="1333501"/>
                <a:gridCol w="1333501"/>
              </a:tblGrid>
              <a:tr h="379030">
                <a:tc>
                  <a:txBody>
                    <a:bodyPr/>
                    <a:lstStyle/>
                    <a:p>
                      <a:r>
                        <a:rPr lang="en-US" sz="1400" dirty="0"/>
                        <a:t>Platform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p50 (s)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p99 (s)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QPH</a:t>
                      </a:r>
                    </a:p>
                  </a:txBody>
                  <a:tcPr anchor="ctr"/>
                </a:tc>
              </a:tr>
              <a:tr h="584199">
                <a:tc>
                  <a:txBody>
                    <a:bodyPr/>
                    <a:lstStyle/>
                    <a:p>
                      <a:r>
                        <a:rPr lang="en-US" sz="1200" dirty="0"/>
                        <a:t>Oracle ADW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0.016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9.221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21,189</a:t>
                      </a:r>
                    </a:p>
                  </a:txBody>
                  <a:tcPr anchor="ctr"/>
                </a:tc>
              </a:tr>
              <a:tr h="567971">
                <a:tc>
                  <a:txBody>
                    <a:bodyPr/>
                    <a:lstStyle/>
                    <a:p>
                      <a:r>
                        <a:rPr lang="en-US" sz="1200"/>
                        <a:t>Redshift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0.018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3.271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71,338</a:t>
                      </a:r>
                    </a:p>
                  </a:txBody>
                  <a:tcPr anchor="ctr"/>
                </a:tc>
              </a:tr>
              <a:tr h="541815">
                <a:tc>
                  <a:txBody>
                    <a:bodyPr/>
                    <a:lstStyle/>
                    <a:p>
                      <a:r>
                        <a:rPr lang="en-US" sz="1200" dirty="0"/>
                        <a:t>Synapse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5.389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22.495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2,110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63325" y="4503347"/>
            <a:ext cx="2154803" cy="120032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Oracle ADW</a:t>
            </a:r>
          </a:p>
          <a:p>
            <a:r>
              <a:rPr lang="en-US" dirty="0"/>
              <a:t>Lowest median latency, exceptional consistency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18128" y="4503347"/>
            <a:ext cx="2511948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Redshift</a:t>
            </a:r>
          </a:p>
          <a:p>
            <a:r>
              <a:rPr lang="en-US" dirty="0"/>
              <a:t>Competitive performance, superior TPC-H throughput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30076" y="4503347"/>
            <a:ext cx="2496046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Synapse</a:t>
            </a:r>
          </a:p>
          <a:p>
            <a:r>
              <a:rPr lang="en-US" dirty="0"/>
              <a:t>DW200c inadequate for production workloads</a:t>
            </a:r>
          </a:p>
        </p:txBody>
      </p:sp>
    </p:spTree>
    <p:extLst>
      <p:ext uri="{BB962C8B-B14F-4D97-AF65-F5344CB8AC3E}">
        <p14:creationId xmlns:p14="http://schemas.microsoft.com/office/powerpoint/2010/main" val="38698343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Baseline </a:t>
            </a:r>
            <a:r>
              <a:rPr lang="en-US" b="1" dirty="0" smtClean="0"/>
              <a:t>Performance latency Results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390" y="1606150"/>
            <a:ext cx="5403575" cy="2500312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3336" y="1606150"/>
            <a:ext cx="5040465" cy="250031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432" y="3967701"/>
            <a:ext cx="5637341" cy="2220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304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Optimization Intervention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4434" y="1495047"/>
            <a:ext cx="2657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1. Compression Tuning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13684" y="1827392"/>
            <a:ext cx="31049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-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0.97%</a:t>
            </a:r>
          </a:p>
          <a:p>
            <a:r>
              <a:rPr lang="en-US" dirty="0"/>
              <a:t>Oracle ADW (TPC-DS)</a:t>
            </a:r>
          </a:p>
        </p:txBody>
      </p:sp>
      <p:sp>
        <p:nvSpPr>
          <p:cNvPr id="7" name="Rectangle 6"/>
          <p:cNvSpPr/>
          <p:nvPr/>
        </p:nvSpPr>
        <p:spPr>
          <a:xfrm>
            <a:off x="3918612" y="1827391"/>
            <a:ext cx="197019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-3.38%</a:t>
            </a:r>
          </a:p>
          <a:p>
            <a:r>
              <a:rPr lang="en-US" dirty="0"/>
              <a:t>Redshift (TPC-DS)</a:t>
            </a:r>
          </a:p>
        </p:txBody>
      </p:sp>
      <p:sp>
        <p:nvSpPr>
          <p:cNvPr id="8" name="Rectangle 7"/>
          <p:cNvSpPr/>
          <p:nvPr/>
        </p:nvSpPr>
        <p:spPr>
          <a:xfrm>
            <a:off x="6687047" y="1864379"/>
            <a:ext cx="22661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-49.23%</a:t>
            </a:r>
          </a:p>
          <a:p>
            <a:r>
              <a:rPr lang="en-US" dirty="0"/>
              <a:t>Synapse (TPC-H)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4434" y="2621398"/>
            <a:ext cx="51727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2. Distribution </a:t>
            </a:r>
            <a:r>
              <a:rPr lang="en-US" b="1" dirty="0" smtClean="0"/>
              <a:t>Key and Partition </a:t>
            </a:r>
            <a:r>
              <a:rPr lang="en-US" b="1" dirty="0"/>
              <a:t>Optimization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229" y="2981891"/>
            <a:ext cx="310492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-3.98%</a:t>
            </a:r>
          </a:p>
          <a:p>
            <a:r>
              <a:rPr lang="en-US" dirty="0"/>
              <a:t>Redshift (TPC-DS)</a:t>
            </a:r>
          </a:p>
          <a:p>
            <a:r>
              <a:rPr lang="en-US" dirty="0"/>
              <a:t>Top: query 20 (-30.90%)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7739" y="2990730"/>
            <a:ext cx="276843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+123.01%</a:t>
            </a:r>
          </a:p>
          <a:p>
            <a:r>
              <a:rPr lang="en-US" dirty="0"/>
              <a:t>Synapse (TPC-DS)</a:t>
            </a:r>
          </a:p>
          <a:p>
            <a:r>
              <a:rPr lang="en-US" dirty="0"/>
              <a:t>79 queries degraded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81367" y="2975867"/>
            <a:ext cx="539788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+</a:t>
            </a:r>
            <a:r>
              <a:rPr lang="en-US" dirty="0">
                <a:solidFill>
                  <a:srgbClr val="FF0000"/>
                </a:solidFill>
              </a:rPr>
              <a:t>1.32%</a:t>
            </a:r>
          </a:p>
          <a:p>
            <a:r>
              <a:rPr lang="en-US" dirty="0"/>
              <a:t>Oracle </a:t>
            </a:r>
            <a:r>
              <a:rPr lang="en-US" dirty="0" smtClean="0"/>
              <a:t>Partitioning (TPC-DS)</a:t>
            </a:r>
            <a:endParaRPr lang="en-US" dirty="0"/>
          </a:p>
          <a:p>
            <a:r>
              <a:rPr lang="en-US" dirty="0"/>
              <a:t>Mixed results (</a:t>
            </a:r>
            <a:r>
              <a:rPr lang="en-US" dirty="0" smtClean="0"/>
              <a:t>query 34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-98.12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%,</a:t>
            </a:r>
            <a:r>
              <a:rPr lang="en-US" dirty="0" smtClean="0"/>
              <a:t>query10 </a:t>
            </a:r>
            <a:r>
              <a:rPr lang="en-US" dirty="0" smtClean="0">
                <a:solidFill>
                  <a:srgbClr val="FF0000"/>
                </a:solidFill>
              </a:rPr>
              <a:t>+37.00%)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4434" y="4117086"/>
            <a:ext cx="24881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3. Materialized Views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229" y="4490237"/>
            <a:ext cx="30340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-0.61%</a:t>
            </a:r>
          </a:p>
          <a:p>
            <a:r>
              <a:rPr lang="en-US" dirty="0"/>
              <a:t>Oracle (TPC-DS)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18612" y="4440587"/>
            <a:ext cx="276843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-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9.60%</a:t>
            </a:r>
          </a:p>
          <a:p>
            <a:r>
              <a:rPr lang="en-US" dirty="0"/>
              <a:t>Redshift (TPC-H)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42697" y="4490237"/>
            <a:ext cx="23369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+1.16%</a:t>
            </a:r>
          </a:p>
          <a:p>
            <a:r>
              <a:rPr lang="en-US" dirty="0"/>
              <a:t>Synapse (TPC-DS)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4433" y="5441113"/>
            <a:ext cx="10749367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/>
              <a:t>Key Finding:</a:t>
            </a:r>
            <a:r>
              <a:rPr lang="en-US" dirty="0"/>
              <a:t> Optimization effectiveness highly variable and platform-dependent. Resource constraints (Synapse DW200c) can negate traditional optimization strategies.</a:t>
            </a:r>
          </a:p>
        </p:txBody>
      </p:sp>
    </p:spTree>
    <p:extLst>
      <p:ext uri="{BB962C8B-B14F-4D97-AF65-F5344CB8AC3E}">
        <p14:creationId xmlns:p14="http://schemas.microsoft.com/office/powerpoint/2010/main" val="350627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Concurrency Scaling </a:t>
            </a:r>
            <a:r>
              <a:rPr lang="en-US" b="1" dirty="0" smtClean="0"/>
              <a:t>Performance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50073" y="1775465"/>
            <a:ext cx="10874733" cy="369332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r>
              <a:rPr lang="en-US" b="1" dirty="0"/>
              <a:t>TPC-DS Throughput Scaling (1 → 20 concurrent sessions)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50073" y="2531621"/>
            <a:ext cx="2955235" cy="120032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12.2×</a:t>
            </a:r>
          </a:p>
          <a:p>
            <a:r>
              <a:rPr lang="en-US" dirty="0"/>
              <a:t>Oracle ADW</a:t>
            </a:r>
          </a:p>
          <a:p>
            <a:r>
              <a:rPr lang="en-US" dirty="0"/>
              <a:t>148K → 1.8M QPH</a:t>
            </a:r>
          </a:p>
          <a:p>
            <a:r>
              <a:rPr lang="en-US" dirty="0"/>
              <a:t>Latency: 0.014s → 0.020s</a:t>
            </a:r>
          </a:p>
        </p:txBody>
      </p:sp>
      <p:sp>
        <p:nvSpPr>
          <p:cNvPr id="6" name="Rectangle 5"/>
          <p:cNvSpPr/>
          <p:nvPr/>
        </p:nvSpPr>
        <p:spPr>
          <a:xfrm>
            <a:off x="3705308" y="2531620"/>
            <a:ext cx="2684890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1.8×</a:t>
            </a:r>
          </a:p>
          <a:p>
            <a:r>
              <a:rPr lang="en-US" dirty="0"/>
              <a:t>Redshift</a:t>
            </a:r>
          </a:p>
          <a:p>
            <a:r>
              <a:rPr lang="en-US" dirty="0"/>
              <a:t>191K → 354K QPH</a:t>
            </a:r>
          </a:p>
          <a:p>
            <a:r>
              <a:rPr lang="en-US" dirty="0"/>
              <a:t>Latency: 0.019s → 0.201s</a:t>
            </a:r>
          </a:p>
        </p:txBody>
      </p:sp>
      <p:sp>
        <p:nvSpPr>
          <p:cNvPr id="7" name="Rectangle 6"/>
          <p:cNvSpPr/>
          <p:nvPr/>
        </p:nvSpPr>
        <p:spPr>
          <a:xfrm>
            <a:off x="6390198" y="2531620"/>
            <a:ext cx="2698143" cy="12003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1.4×</a:t>
            </a:r>
          </a:p>
          <a:p>
            <a:r>
              <a:rPr lang="en-US" dirty="0"/>
              <a:t>Synapse</a:t>
            </a:r>
          </a:p>
          <a:p>
            <a:r>
              <a:rPr lang="en-US" dirty="0"/>
              <a:t>2.1K → 3.0K QPH</a:t>
            </a:r>
          </a:p>
          <a:p>
            <a:r>
              <a:rPr lang="en-US" dirty="0"/>
              <a:t>Latency: 5.6s → 63.6s</a:t>
            </a:r>
          </a:p>
        </p:txBody>
      </p:sp>
      <p:sp>
        <p:nvSpPr>
          <p:cNvPr id="9" name="Rectangle 8"/>
          <p:cNvSpPr/>
          <p:nvPr/>
        </p:nvSpPr>
        <p:spPr>
          <a:xfrm>
            <a:off x="750073" y="4224938"/>
            <a:ext cx="405251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Oracle ADW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smtClean="0"/>
              <a:t> </a:t>
            </a:r>
            <a:r>
              <a:rPr lang="en-US" sz="1600" dirty="0"/>
              <a:t>Superlinear throughput scaling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 </a:t>
            </a:r>
            <a:r>
              <a:rPr lang="en-US" sz="1600" dirty="0" smtClean="0"/>
              <a:t>Minimal </a:t>
            </a:r>
            <a:r>
              <a:rPr lang="en-US" sz="1600" dirty="0"/>
              <a:t>latency degradation (1.4×)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 </a:t>
            </a:r>
            <a:r>
              <a:rPr lang="en-US" sz="1600" dirty="0" smtClean="0"/>
              <a:t>Autonomous </a:t>
            </a:r>
            <a:r>
              <a:rPr lang="en-US" sz="1600" dirty="0"/>
              <a:t>resource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 </a:t>
            </a:r>
            <a:r>
              <a:rPr lang="en-US" sz="1600" dirty="0" smtClean="0"/>
              <a:t>Excellent </a:t>
            </a:r>
            <a:r>
              <a:rPr lang="en-US" sz="1600" dirty="0"/>
              <a:t>p99 stability (0.108s → 0.153s)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02588" y="4224938"/>
            <a:ext cx="516039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Redshift &amp; Synapse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smtClean="0"/>
              <a:t> </a:t>
            </a:r>
            <a:r>
              <a:rPr lang="en-US" sz="1600" dirty="0"/>
              <a:t>Redshift: p99 explosion (0.228s → 1.548s)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 </a:t>
            </a:r>
            <a:r>
              <a:rPr lang="en-US" sz="1600" dirty="0" smtClean="0"/>
              <a:t>Workload </a:t>
            </a:r>
            <a:r>
              <a:rPr lang="en-US" sz="1600" dirty="0"/>
              <a:t>queue limitations evident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smtClean="0"/>
              <a:t> Synapse</a:t>
            </a:r>
            <a:r>
              <a:rPr lang="en-US" sz="1600" dirty="0"/>
              <a:t>: 11.3× median latency increase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 </a:t>
            </a:r>
            <a:r>
              <a:rPr lang="en-US" sz="1600" dirty="0" smtClean="0"/>
              <a:t>Resource </a:t>
            </a:r>
            <a:r>
              <a:rPr lang="en-US" sz="1600" dirty="0"/>
              <a:t>constraints prevent scaling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0072" y="5748977"/>
            <a:ext cx="10874733" cy="5847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b="1" dirty="0"/>
              <a:t>Implication:</a:t>
            </a:r>
            <a:r>
              <a:rPr lang="en-US" sz="1600" dirty="0"/>
              <a:t> Autonomous optimization (Oracle) provides superior multi-user performance. Manual tuning required for Redshift. Synapse requires higher tier provisioning.</a:t>
            </a:r>
          </a:p>
        </p:txBody>
      </p:sp>
    </p:spTree>
    <p:extLst>
      <p:ext uri="{BB962C8B-B14F-4D97-AF65-F5344CB8AC3E}">
        <p14:creationId xmlns:p14="http://schemas.microsoft.com/office/powerpoint/2010/main" val="2543407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Statistical </a:t>
            </a:r>
            <a:r>
              <a:rPr lang="en-US" b="1" dirty="0" smtClean="0"/>
              <a:t>Analysis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4231" y="1881283"/>
            <a:ext cx="10269771" cy="4351338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Statistical Analysis with </a:t>
            </a:r>
            <a:r>
              <a:rPr lang="en-US" b="1" dirty="0" smtClean="0">
                <a:solidFill>
                  <a:schemeClr val="tx1"/>
                </a:solidFill>
              </a:rPr>
              <a:t>Optimizations (TPC-DS):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Kruskal-Wallis H-test:</a:t>
            </a:r>
            <a:r>
              <a:rPr lang="en-US" dirty="0">
                <a:solidFill>
                  <a:schemeClr val="tx1"/>
                </a:solidFill>
              </a:rPr>
              <a:t> Would still reject H₀ (p ≈ 0.000). The gap between Synapse and others remains enormous.</a:t>
            </a:r>
          </a:p>
          <a:p>
            <a:r>
              <a:rPr lang="en-US" b="1" dirty="0">
                <a:solidFill>
                  <a:schemeClr val="tx1"/>
                </a:solidFill>
              </a:rPr>
              <a:t>Dunn's Post-Hoc Comparisons: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b="1" dirty="0">
                <a:solidFill>
                  <a:schemeClr val="tx1"/>
                </a:solidFill>
              </a:rPr>
              <a:t>Synapse vs. Oracle ADW:</a:t>
            </a:r>
            <a:r>
              <a:rPr lang="en-US" dirty="0">
                <a:solidFill>
                  <a:schemeClr val="tx1"/>
                </a:solidFill>
              </a:rPr>
              <a:t> Extremely significant (p ≈ 0.000)</a:t>
            </a:r>
          </a:p>
          <a:p>
            <a:pPr lvl="1"/>
            <a:r>
              <a:rPr lang="en-US" b="1" dirty="0">
                <a:solidFill>
                  <a:schemeClr val="tx1"/>
                </a:solidFill>
              </a:rPr>
              <a:t>Synapse vs. Redshift:</a:t>
            </a:r>
            <a:r>
              <a:rPr lang="en-US" dirty="0">
                <a:solidFill>
                  <a:schemeClr val="tx1"/>
                </a:solidFill>
              </a:rPr>
              <a:t> Extremely significant (p ≈ 0.000)</a:t>
            </a:r>
          </a:p>
          <a:p>
            <a:pPr lvl="1"/>
            <a:r>
              <a:rPr lang="en-US" b="1" dirty="0">
                <a:solidFill>
                  <a:schemeClr val="tx1"/>
                </a:solidFill>
              </a:rPr>
              <a:t>Oracle ADW vs. Redshift:</a:t>
            </a:r>
            <a:r>
              <a:rPr lang="en-US" dirty="0">
                <a:solidFill>
                  <a:schemeClr val="tx1"/>
                </a:solidFill>
              </a:rPr>
              <a:t> Now more competitive. Oracle has better p50 and p99, but Redshift has higher QPH.</a:t>
            </a:r>
          </a:p>
          <a:p>
            <a:r>
              <a:rPr lang="en-US" b="1" dirty="0">
                <a:solidFill>
                  <a:schemeClr val="tx1"/>
                </a:solidFill>
              </a:rPr>
              <a:t>Cliff's Delta Effect Sizes: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b="1" dirty="0">
                <a:solidFill>
                  <a:schemeClr val="tx1"/>
                </a:solidFill>
              </a:rPr>
              <a:t>Synapse vs. Oracle ADW: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l-GR" dirty="0">
                <a:solidFill>
                  <a:schemeClr val="tx1"/>
                </a:solidFill>
              </a:rPr>
              <a:t>δ ≈ +1.0 (</a:t>
            </a:r>
            <a:r>
              <a:rPr lang="en-US" dirty="0">
                <a:solidFill>
                  <a:schemeClr val="tx1"/>
                </a:solidFill>
              </a:rPr>
              <a:t>Large)</a:t>
            </a:r>
          </a:p>
          <a:p>
            <a:pPr lvl="1"/>
            <a:r>
              <a:rPr lang="en-US" b="1" dirty="0">
                <a:solidFill>
                  <a:schemeClr val="tx1"/>
                </a:solidFill>
              </a:rPr>
              <a:t>Synapse vs. Redshift: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l-GR" dirty="0">
                <a:solidFill>
                  <a:schemeClr val="tx1"/>
                </a:solidFill>
              </a:rPr>
              <a:t>δ ≈ +1.0 (</a:t>
            </a:r>
            <a:r>
              <a:rPr lang="en-US" dirty="0">
                <a:solidFill>
                  <a:schemeClr val="tx1"/>
                </a:solidFill>
              </a:rPr>
              <a:t>Large)</a:t>
            </a:r>
          </a:p>
          <a:p>
            <a:pPr lvl="1"/>
            <a:r>
              <a:rPr lang="en-US" b="1" dirty="0">
                <a:solidFill>
                  <a:schemeClr val="tx1"/>
                </a:solidFill>
              </a:rPr>
              <a:t>Oracle ADW vs. Redshift: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l-GR" b="1" dirty="0">
                <a:solidFill>
                  <a:schemeClr val="tx1"/>
                </a:solidFill>
              </a:rPr>
              <a:t>δ </a:t>
            </a:r>
            <a:r>
              <a:rPr lang="el-GR" dirty="0">
                <a:solidFill>
                  <a:schemeClr val="tx1"/>
                </a:solidFill>
              </a:rPr>
              <a:t>≈ -0.15 (</a:t>
            </a:r>
            <a:r>
              <a:rPr lang="en-US" dirty="0">
                <a:solidFill>
                  <a:schemeClr val="tx1"/>
                </a:solidFill>
              </a:rPr>
              <a:t>Negligible/Small) - Very similar performance profiles</a:t>
            </a:r>
          </a:p>
        </p:txBody>
      </p:sp>
    </p:spTree>
    <p:extLst>
      <p:ext uri="{BB962C8B-B14F-4D97-AF65-F5344CB8AC3E}">
        <p14:creationId xmlns:p14="http://schemas.microsoft.com/office/powerpoint/2010/main" val="2422866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Research </a:t>
            </a:r>
            <a:r>
              <a:rPr lang="en-US" b="1" dirty="0" smtClean="0"/>
              <a:t>Findings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79910" y="1622219"/>
            <a:ext cx="1074936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1. Performance Disparities</a:t>
            </a:r>
          </a:p>
          <a:p>
            <a:r>
              <a:rPr lang="en-US" sz="1600" dirty="0"/>
              <a:t>Oracle ADW demonstrated lowest median latency (0.014s TPC-DS) and exceptional consistency. 61× throughput advantage over Synapse's entry-level configuration.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4434" y="2535616"/>
            <a:ext cx="1074936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2. Optimization Effectiveness Varies</a:t>
            </a:r>
          </a:p>
          <a:p>
            <a:r>
              <a:rPr lang="en-US" sz="1600" dirty="0"/>
              <a:t>Compression: 3-49% improvements. Distribution keys: -30% to +123% variance. Materialized views: 0.6-68% per-query effects. Results highly dependent on platform maturity and resource provisioning.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4432" y="3458946"/>
            <a:ext cx="1074936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3. Resource Provisioning Critical</a:t>
            </a:r>
          </a:p>
          <a:p>
            <a:r>
              <a:rPr lang="en-US" sz="1600" dirty="0"/>
              <a:t>Azure Synapse DW200c proved inadequate for production workloads. Traditional optimization strategies can degrade performance under resource constraints.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4431" y="4287796"/>
            <a:ext cx="1074936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4. Autonomous vs Manual Tuning</a:t>
            </a:r>
          </a:p>
          <a:p>
            <a:r>
              <a:rPr lang="en-US" sz="1600" dirty="0"/>
              <a:t>Oracle's autonomous optimization provided consistent performance without manual intervention. Redshift and Synapse require DBA expertise for optimization.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4429" y="5062693"/>
            <a:ext cx="1083749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5. Workload Sensitivity</a:t>
            </a:r>
          </a:p>
          <a:p>
            <a:r>
              <a:rPr lang="en-US" sz="1600" dirty="0"/>
              <a:t>Platform performance varies by query complexity. Oracle excels at simple queries (caching), Redshift competitive on moderate joins, all platforms struggle with complex nested subqueries at 10GB scale.</a:t>
            </a:r>
          </a:p>
        </p:txBody>
      </p:sp>
    </p:spTree>
    <p:extLst>
      <p:ext uri="{BB962C8B-B14F-4D97-AF65-F5344CB8AC3E}">
        <p14:creationId xmlns:p14="http://schemas.microsoft.com/office/powerpoint/2010/main" val="2157851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Platform-Specific </a:t>
            </a:r>
            <a:r>
              <a:rPr lang="en-US" b="1" dirty="0" smtClean="0"/>
              <a:t>Recommendations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4434" y="1595650"/>
            <a:ext cx="3124728" cy="230832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b="1" dirty="0"/>
              <a:t>Oracle ADW</a:t>
            </a:r>
          </a:p>
          <a:p>
            <a:r>
              <a:rPr lang="en-US" sz="1600" dirty="0"/>
              <a:t>Best For: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Operational simplicity priority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Multi-user analytics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Limited DBA expertise</a:t>
            </a:r>
          </a:p>
          <a:p>
            <a:r>
              <a:rPr lang="en-US" sz="1600" dirty="0"/>
              <a:t>Considerations: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Higher cost ($1.04/hr base)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Provision 8+ ECPUs for TB-scale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Excellent consistency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3729162" y="1595650"/>
            <a:ext cx="3379304" cy="230832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b="1" dirty="0"/>
              <a:t>Amazon Redshift</a:t>
            </a:r>
          </a:p>
          <a:p>
            <a:r>
              <a:rPr lang="en-US" sz="1600" dirty="0"/>
              <a:t>Best For: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Technical teams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Cost-conscious deployments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OLAP-heavy workloads</a:t>
            </a:r>
          </a:p>
          <a:p>
            <a:r>
              <a:rPr lang="en-US" sz="1600" dirty="0"/>
              <a:t>Considerations: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Requires DBA tuning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Distribution key critical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Best cost efficiency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08465" y="1595650"/>
            <a:ext cx="4245335" cy="23083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b="1" dirty="0"/>
              <a:t>Azure Synapse</a:t>
            </a:r>
          </a:p>
          <a:p>
            <a:r>
              <a:rPr lang="en-US" sz="1600" dirty="0"/>
              <a:t>Best For: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Azure ecosystem users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Power BI integration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Adequate provisioning (≥DW500c)</a:t>
            </a:r>
          </a:p>
          <a:p>
            <a:r>
              <a:rPr lang="en-US" sz="1600" dirty="0"/>
              <a:t>Considerations: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DW200c inadequate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Requires tier planning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Schema design critical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04434" y="4155970"/>
            <a:ext cx="1111131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Decision Framework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sz="1600" dirty="0"/>
              <a:t> </a:t>
            </a:r>
            <a:r>
              <a:rPr lang="en-US" sz="1600" dirty="0" smtClean="0"/>
              <a:t>Operational </a:t>
            </a:r>
            <a:r>
              <a:rPr lang="en-US" sz="1600" dirty="0"/>
              <a:t>simplicity priority: Oracle ADW </a:t>
            </a:r>
            <a:r>
              <a:rPr lang="en-US" sz="1600" dirty="0" smtClean="0"/>
              <a:t>(</a:t>
            </a:r>
            <a:r>
              <a:rPr lang="en-US" sz="1000" b="1" dirty="0" smtClean="0">
                <a:solidFill>
                  <a:schemeClr val="accent6">
                    <a:lumMod val="50000"/>
                  </a:schemeClr>
                </a:solidFill>
                <a:latin typeface="Segoe UI (Body)"/>
              </a:rPr>
              <a:t>autonomous optimization, </a:t>
            </a:r>
            <a:r>
              <a:rPr lang="en-US" sz="1000" b="1" dirty="0">
                <a:solidFill>
                  <a:schemeClr val="accent6">
                    <a:lumMod val="50000"/>
                  </a:schemeClr>
                </a:solidFill>
                <a:latin typeface="Segoe UI (Body)"/>
              </a:rPr>
              <a:t>compression yields modest improvements; check heavy </a:t>
            </a:r>
            <a:r>
              <a:rPr lang="en-US" sz="1000" b="1" dirty="0" smtClean="0">
                <a:solidFill>
                  <a:schemeClr val="accent6">
                    <a:lumMod val="50000"/>
                  </a:schemeClr>
                </a:solidFill>
                <a:latin typeface="Segoe UI (Body)"/>
              </a:rPr>
              <a:t>outliers</a:t>
            </a:r>
            <a:r>
              <a:rPr lang="en-US" sz="1600" dirty="0" smtClean="0"/>
              <a:t>)</a:t>
            </a:r>
            <a:endParaRPr lang="en-US" sz="1600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en-US" sz="1600" dirty="0"/>
              <a:t> </a:t>
            </a:r>
            <a:r>
              <a:rPr lang="en-US" sz="1600" dirty="0" smtClean="0"/>
              <a:t>Cost </a:t>
            </a:r>
            <a:r>
              <a:rPr lang="en-US" sz="1600" dirty="0"/>
              <a:t>optimization with technical expertise: Amazon </a:t>
            </a:r>
            <a:r>
              <a:rPr lang="en-US" sz="1600" dirty="0" smtClean="0"/>
              <a:t>Redshift (</a:t>
            </a:r>
            <a:r>
              <a:rPr lang="en-US" sz="1000" b="1" dirty="0">
                <a:solidFill>
                  <a:schemeClr val="accent6">
                    <a:lumMod val="50000"/>
                  </a:schemeClr>
                </a:solidFill>
                <a:latin typeface="Segoe UI (Body)"/>
              </a:rPr>
              <a:t>D</a:t>
            </a:r>
            <a:r>
              <a:rPr lang="en-US" sz="1000" b="1" dirty="0" smtClean="0">
                <a:solidFill>
                  <a:schemeClr val="accent6">
                    <a:lumMod val="50000"/>
                  </a:schemeClr>
                </a:solidFill>
                <a:latin typeface="Segoe UI (Body)"/>
              </a:rPr>
              <a:t>istribution key </a:t>
            </a:r>
            <a:r>
              <a:rPr lang="en-US" sz="1000" b="1" dirty="0">
                <a:solidFill>
                  <a:schemeClr val="accent6">
                    <a:lumMod val="50000"/>
                  </a:schemeClr>
                </a:solidFill>
                <a:latin typeface="Segoe UI (Body)"/>
              </a:rPr>
              <a:t>produced the largest overall improvement in your </a:t>
            </a:r>
            <a:r>
              <a:rPr lang="en-US" sz="1000" b="1" dirty="0" smtClean="0">
                <a:solidFill>
                  <a:schemeClr val="accent6">
                    <a:lumMod val="50000"/>
                  </a:schemeClr>
                </a:solidFill>
                <a:latin typeface="Segoe UI (Body)"/>
              </a:rPr>
              <a:t>runs, mean </a:t>
            </a:r>
            <a:r>
              <a:rPr lang="en-US" sz="1000" b="1" dirty="0">
                <a:solidFill>
                  <a:schemeClr val="accent6">
                    <a:lumMod val="50000"/>
                  </a:schemeClr>
                </a:solidFill>
                <a:latin typeface="Segoe UI (Body)"/>
              </a:rPr>
              <a:t>−3.98%</a:t>
            </a:r>
            <a:r>
              <a:rPr lang="en-US" sz="1000" b="1" dirty="0">
                <a:latin typeface="Segoe UI (Body)"/>
              </a:rPr>
              <a:t>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smtClean="0"/>
              <a:t> Azure </a:t>
            </a:r>
            <a:r>
              <a:rPr lang="en-US" sz="1600" dirty="0"/>
              <a:t>ecosystem lock-in: Synapse with ≥DW500c provisioning </a:t>
            </a:r>
            <a:r>
              <a:rPr lang="en-US" sz="1600" dirty="0" smtClean="0"/>
              <a:t>(</a:t>
            </a:r>
            <a:r>
              <a:rPr lang="en-US" sz="1000" b="1" dirty="0" smtClean="0">
                <a:solidFill>
                  <a:schemeClr val="accent6">
                    <a:lumMod val="50000"/>
                  </a:schemeClr>
                </a:solidFill>
              </a:rPr>
              <a:t>Tuning </a:t>
            </a:r>
            <a:r>
              <a:rPr lang="en-US" sz="1000" b="1" dirty="0">
                <a:solidFill>
                  <a:schemeClr val="accent6">
                    <a:lumMod val="50000"/>
                  </a:schemeClr>
                </a:solidFill>
              </a:rPr>
              <a:t>had mixed </a:t>
            </a:r>
            <a:r>
              <a:rPr lang="en-US" sz="1000" b="1" dirty="0" smtClean="0">
                <a:solidFill>
                  <a:schemeClr val="accent6">
                    <a:lumMod val="50000"/>
                  </a:schemeClr>
                </a:solidFill>
              </a:rPr>
              <a:t>effects</a:t>
            </a:r>
            <a:r>
              <a:rPr lang="en-US" sz="1600" dirty="0" smtClean="0"/>
              <a:t>)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 </a:t>
            </a:r>
            <a:r>
              <a:rPr lang="en-US" sz="1600" dirty="0" smtClean="0"/>
              <a:t>High </a:t>
            </a:r>
            <a:r>
              <a:rPr lang="en-US" sz="1600" dirty="0"/>
              <a:t>concurrency requirements: Oracle ADW (</a:t>
            </a:r>
            <a:r>
              <a:rPr lang="en-US" sz="1000" b="1" dirty="0">
                <a:solidFill>
                  <a:schemeClr val="accent6">
                    <a:lumMod val="50000"/>
                  </a:schemeClr>
                </a:solidFill>
              </a:rPr>
              <a:t>12.2× scaling</a:t>
            </a:r>
            <a:r>
              <a:rPr lang="en-US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12664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Conclusions &amp; Future Directions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13413" y="2011680"/>
            <a:ext cx="5859506" cy="2697053"/>
          </a:xfrm>
        </p:spPr>
        <p:txBody>
          <a:bodyPr>
            <a:noAutofit/>
          </a:bodyPr>
          <a:lstStyle/>
          <a:p>
            <a:r>
              <a:rPr lang="en-US" sz="1600" b="1" dirty="0"/>
              <a:t>Key Takeaways</a:t>
            </a:r>
          </a:p>
          <a:p>
            <a:r>
              <a:rPr lang="en-US" sz="1600" b="1" dirty="0"/>
              <a:t>Platform Choice:</a:t>
            </a:r>
            <a:r>
              <a:rPr lang="en-US" sz="1600" dirty="0"/>
              <a:t> No universal winner; depends on workload and expertise</a:t>
            </a:r>
          </a:p>
          <a:p>
            <a:r>
              <a:rPr lang="en-US" sz="1600" b="1" dirty="0"/>
              <a:t>Provisioning:</a:t>
            </a:r>
            <a:r>
              <a:rPr lang="en-US" sz="1600" dirty="0"/>
              <a:t> Entry-level tiers may prove false economies</a:t>
            </a:r>
          </a:p>
          <a:p>
            <a:r>
              <a:rPr lang="en-US" sz="1600" b="1" dirty="0"/>
              <a:t>Optimization:</a:t>
            </a:r>
            <a:r>
              <a:rPr lang="en-US" sz="1600" dirty="0"/>
              <a:t> Highly context-dependent; test before deploying</a:t>
            </a:r>
          </a:p>
        </p:txBody>
      </p:sp>
      <p:sp>
        <p:nvSpPr>
          <p:cNvPr id="8" name="Freeform 7">
            <a:hlinkClick r:id="rId3" tooltip="Learn More"/>
          </p:cNvPr>
          <p:cNvSpPr/>
          <p:nvPr/>
        </p:nvSpPr>
        <p:spPr>
          <a:xfrm>
            <a:off x="11557038" y="6134153"/>
            <a:ext cx="431763" cy="431763"/>
          </a:xfrm>
          <a:custGeom>
            <a:avLst/>
            <a:gdLst>
              <a:gd name="connsiteX0" fmla="*/ 283692 w 643468"/>
              <a:gd name="connsiteY0" fmla="*/ 156886 h 643468"/>
              <a:gd name="connsiteX1" fmla="*/ 315574 w 643468"/>
              <a:gd name="connsiteY1" fmla="*/ 156886 h 643468"/>
              <a:gd name="connsiteX2" fmla="*/ 486582 w 643468"/>
              <a:gd name="connsiteY2" fmla="*/ 321734 h 643468"/>
              <a:gd name="connsiteX3" fmla="*/ 315574 w 643468"/>
              <a:gd name="connsiteY3" fmla="*/ 486582 h 643468"/>
              <a:gd name="connsiteX4" fmla="*/ 283692 w 643468"/>
              <a:gd name="connsiteY4" fmla="*/ 486582 h 643468"/>
              <a:gd name="connsiteX5" fmla="*/ 441545 w 643468"/>
              <a:gd name="connsiteY5" fmla="*/ 334415 h 643468"/>
              <a:gd name="connsiteX6" fmla="*/ 156887 w 643468"/>
              <a:gd name="connsiteY6" fmla="*/ 334415 h 643468"/>
              <a:gd name="connsiteX7" fmla="*/ 156887 w 643468"/>
              <a:gd name="connsiteY7" fmla="*/ 309054 h 643468"/>
              <a:gd name="connsiteX8" fmla="*/ 441545 w 643468"/>
              <a:gd name="connsiteY8" fmla="*/ 309054 h 643468"/>
              <a:gd name="connsiteX9" fmla="*/ 321733 w 643468"/>
              <a:gd name="connsiteY9" fmla="*/ 16937 h 643468"/>
              <a:gd name="connsiteX10" fmla="*/ 16936 w 643468"/>
              <a:gd name="connsiteY10" fmla="*/ 321734 h 643468"/>
              <a:gd name="connsiteX11" fmla="*/ 321733 w 643468"/>
              <a:gd name="connsiteY11" fmla="*/ 626531 h 643468"/>
              <a:gd name="connsiteX12" fmla="*/ 626530 w 643468"/>
              <a:gd name="connsiteY12" fmla="*/ 321734 h 643468"/>
              <a:gd name="connsiteX13" fmla="*/ 321733 w 643468"/>
              <a:gd name="connsiteY13" fmla="*/ 16937 h 643468"/>
              <a:gd name="connsiteX14" fmla="*/ 321734 w 643468"/>
              <a:gd name="connsiteY14" fmla="*/ 0 h 643468"/>
              <a:gd name="connsiteX15" fmla="*/ 643468 w 643468"/>
              <a:gd name="connsiteY15" fmla="*/ 321734 h 643468"/>
              <a:gd name="connsiteX16" fmla="*/ 321734 w 643468"/>
              <a:gd name="connsiteY16" fmla="*/ 643468 h 643468"/>
              <a:gd name="connsiteX17" fmla="*/ 0 w 643468"/>
              <a:gd name="connsiteY17" fmla="*/ 321734 h 643468"/>
              <a:gd name="connsiteX18" fmla="*/ 321734 w 643468"/>
              <a:gd name="connsiteY18" fmla="*/ 0 h 643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3468" h="643468">
                <a:moveTo>
                  <a:pt x="283692" y="156886"/>
                </a:moveTo>
                <a:lnTo>
                  <a:pt x="315574" y="156886"/>
                </a:lnTo>
                <a:lnTo>
                  <a:pt x="486582" y="321734"/>
                </a:lnTo>
                <a:lnTo>
                  <a:pt x="315574" y="486582"/>
                </a:lnTo>
                <a:lnTo>
                  <a:pt x="283692" y="486582"/>
                </a:lnTo>
                <a:lnTo>
                  <a:pt x="441545" y="334415"/>
                </a:lnTo>
                <a:lnTo>
                  <a:pt x="156887" y="334415"/>
                </a:lnTo>
                <a:lnTo>
                  <a:pt x="156887" y="309054"/>
                </a:lnTo>
                <a:lnTo>
                  <a:pt x="441545" y="309054"/>
                </a:lnTo>
                <a:close/>
                <a:moveTo>
                  <a:pt x="321733" y="16937"/>
                </a:moveTo>
                <a:cubicBezTo>
                  <a:pt x="153398" y="16937"/>
                  <a:pt x="16936" y="153399"/>
                  <a:pt x="16936" y="321734"/>
                </a:cubicBezTo>
                <a:cubicBezTo>
                  <a:pt x="16936" y="490069"/>
                  <a:pt x="153398" y="626531"/>
                  <a:pt x="321733" y="626531"/>
                </a:cubicBezTo>
                <a:cubicBezTo>
                  <a:pt x="490068" y="626531"/>
                  <a:pt x="626530" y="490069"/>
                  <a:pt x="626530" y="321734"/>
                </a:cubicBezTo>
                <a:cubicBezTo>
                  <a:pt x="626530" y="153399"/>
                  <a:pt x="490068" y="16937"/>
                  <a:pt x="321733" y="16937"/>
                </a:cubicBezTo>
                <a:close/>
                <a:moveTo>
                  <a:pt x="321734" y="0"/>
                </a:moveTo>
                <a:cubicBezTo>
                  <a:pt x="499423" y="0"/>
                  <a:pt x="643468" y="144045"/>
                  <a:pt x="643468" y="321734"/>
                </a:cubicBezTo>
                <a:cubicBezTo>
                  <a:pt x="643468" y="499423"/>
                  <a:pt x="499423" y="643468"/>
                  <a:pt x="321734" y="643468"/>
                </a:cubicBezTo>
                <a:cubicBezTo>
                  <a:pt x="144045" y="643468"/>
                  <a:pt x="0" y="499423"/>
                  <a:pt x="0" y="321734"/>
                </a:cubicBezTo>
                <a:cubicBezTo>
                  <a:pt x="0" y="144045"/>
                  <a:pt x="144045" y="0"/>
                  <a:pt x="321734" y="0"/>
                </a:cubicBezTo>
                <a:close/>
              </a:path>
            </a:pathLst>
          </a:custGeom>
          <a:solidFill>
            <a:srgbClr val="DD46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466022" y="6477369"/>
            <a:ext cx="2963979" cy="29866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sz="1200" dirty="0">
                <a:solidFill>
                  <a:srgbClr val="D24726">
                    <a:alpha val="37000"/>
                  </a:srgbClr>
                </a:solidFill>
              </a:rPr>
              <a:t>(Click the arrow when in Slide Show mode)</a:t>
            </a:r>
          </a:p>
          <a:p>
            <a:endParaRPr lang="en-US" sz="1200" dirty="0">
              <a:solidFill>
                <a:srgbClr val="D24726">
                  <a:alpha val="37000"/>
                </a:srgb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76919" y="335515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b="1" dirty="0"/>
              <a:t>Research Contributions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✓ Neutral tri-platform comparison under controlled conditions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✓ Explicit cold/warm run separation methodology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✓ Marginal attribution of optimization effects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✓ Telemetry-driven root cause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✓ Evidence-based SME decision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1" y="5334371"/>
            <a:ext cx="483871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/>
              <a:t>Limitations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smtClean="0"/>
              <a:t> </a:t>
            </a:r>
            <a:r>
              <a:rPr lang="en-US" sz="1200" dirty="0"/>
              <a:t>10GB scale factor (SME-focused but limits TB/PB generalizability)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 </a:t>
            </a:r>
            <a:r>
              <a:rPr lang="en-US" sz="1200" dirty="0" smtClean="0"/>
              <a:t>Single </a:t>
            </a:r>
            <a:r>
              <a:rPr lang="en-US" sz="1200" dirty="0"/>
              <a:t>region deployment (US-East)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 </a:t>
            </a:r>
            <a:r>
              <a:rPr lang="en-US" sz="1200" dirty="0" smtClean="0"/>
              <a:t>Temporal </a:t>
            </a:r>
            <a:r>
              <a:rPr lang="en-US" sz="1200" dirty="0"/>
              <a:t>validity (October 2025 snapshot)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 </a:t>
            </a:r>
            <a:r>
              <a:rPr lang="en-US" sz="1200" dirty="0" smtClean="0"/>
              <a:t>Resource </a:t>
            </a:r>
            <a:r>
              <a:rPr lang="en-US" sz="1200" dirty="0"/>
              <a:t>imbalance across configurations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76918" y="5277040"/>
            <a:ext cx="651508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/>
              <a:t>Future Research Directions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smtClean="0"/>
              <a:t> </a:t>
            </a:r>
            <a:r>
              <a:rPr lang="en-US" sz="1200" dirty="0"/>
              <a:t>Larger scale factors (SF100-SF1000) for enterprise validation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smtClean="0"/>
              <a:t> </a:t>
            </a:r>
            <a:r>
              <a:rPr lang="en-US" sz="1200" dirty="0"/>
              <a:t>Multi-region performance and cost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smtClean="0"/>
              <a:t> </a:t>
            </a:r>
            <a:r>
              <a:rPr lang="en-US" sz="1200" dirty="0"/>
              <a:t>Real-world workload traces beyond synthetic benchmarks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smtClean="0"/>
              <a:t> </a:t>
            </a:r>
            <a:r>
              <a:rPr lang="en-US" sz="1200" dirty="0"/>
              <a:t>Cost-per-query economic modeling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smtClean="0"/>
              <a:t> </a:t>
            </a:r>
            <a:r>
              <a:rPr lang="en-US" sz="1200" dirty="0"/>
              <a:t>Synapse Spark pool evaluation for complex analytics</a:t>
            </a:r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true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1584528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2012-06-20T23:39:00+00:00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2029-01-01T08:00:00+00:00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TP102923943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843282</LocLastLocAttemptVersionLookup>
    <IsSearchable xmlns="4873beb7-5857-4685-be1f-d57550cc96cc">true</IsSearchable>
    <TemplateTemplateType xmlns="4873beb7-5857-4685-be1f-d57550cc96cc">PowerPoint Template - Slideshow Launch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LocMarketGroupTiers2 xmlns="4873beb7-5857-4685-be1f-d57550cc96cc" xsi:nil="true"/>
    <APAuthor xmlns="4873beb7-5857-4685-be1f-d57550cc96cc">
      <UserInfo>
        <DisplayName>REDMOND\v-sa</DisplayName>
        <AccountId>2467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15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970C04F-E7AC-41AB-9C6D-1B1BB88BFF7F}">
  <ds:schemaRefs>
    <ds:schemaRef ds:uri="http://schemas.microsoft.com/office/2006/metadata/properties"/>
    <ds:schemaRef ds:uri="http://schemas.microsoft.com/office/infopath/2007/PartnerControls"/>
    <ds:schemaRef ds:uri="4873beb7-5857-4685-be1f-d57550cc96cc"/>
  </ds:schemaRefs>
</ds:datastoreItem>
</file>

<file path=customXml/itemProps2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3EE7759-C66F-4EA4-9863-7EBA32518D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 2013</Template>
  <TotalTime>1106</TotalTime>
  <Words>1302</Words>
  <Application>Microsoft Office PowerPoint</Application>
  <PresentationFormat>Widescreen</PresentationFormat>
  <Paragraphs>249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Segoe UI</vt:lpstr>
      <vt:lpstr>Segoe UI (Body)</vt:lpstr>
      <vt:lpstr>Segoe UI Light</vt:lpstr>
      <vt:lpstr>WelcomeDoc</vt:lpstr>
      <vt:lpstr>Optimizing Query Performance in Cloud Data Warehousing</vt:lpstr>
      <vt:lpstr>Research Context &amp; Problem</vt:lpstr>
      <vt:lpstr>Research Context &amp; Problem</vt:lpstr>
      <vt:lpstr>   Research Methodology Seven-Phase Experimental Pipeline</vt:lpstr>
      <vt:lpstr>Platform Configurations</vt:lpstr>
      <vt:lpstr>Baseline Performance Results</vt:lpstr>
      <vt:lpstr>Baseline Performance latency Results</vt:lpstr>
      <vt:lpstr>Optimization Intervention Results</vt:lpstr>
      <vt:lpstr>Concurrency Scaling Performance</vt:lpstr>
      <vt:lpstr>Statistical Analysis</vt:lpstr>
      <vt:lpstr>Key Research Findings</vt:lpstr>
      <vt:lpstr>Platform-Specific Recommendations</vt:lpstr>
      <vt:lpstr>Conclusions &amp; Future Directions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Optimizing Query Performance in Cloud Data Warehousing</dc:title>
  <dc:creator>Microsoft account</dc:creator>
  <cp:keywords/>
  <cp:lastModifiedBy>Microsoft account</cp:lastModifiedBy>
  <cp:revision>67</cp:revision>
  <dcterms:created xsi:type="dcterms:W3CDTF">2025-12-07T22:52:22Z</dcterms:created>
  <dcterms:modified xsi:type="dcterms:W3CDTF">2025-12-08T17:18:29Z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_TemplateID">
    <vt:lpwstr>TC029239449991</vt:lpwstr>
  </property>
  <property fmtid="{D5CDD505-2E9C-101B-9397-08002B2CF9AE}" pid="4" name="ContentTypeId">
    <vt:lpwstr>0x0101006EDDDB5EE6D98C44930B742096920B300400F5B6D36B3EF94B4E9A635CDF2A18F5B8</vt:lpwstr>
  </property>
  <property fmtid="{D5CDD505-2E9C-101B-9397-08002B2CF9AE}" pid="5" name="FeatureTags">
    <vt:lpwstr/>
  </property>
  <property fmtid="{D5CDD505-2E9C-101B-9397-08002B2CF9AE}" pid="6" name="LocalizationTags">
    <vt:lpwstr/>
  </property>
  <property fmtid="{D5CDD505-2E9C-101B-9397-08002B2CF9AE}" pid="7" name="ScenarioTags">
    <vt:lpwstr/>
  </property>
  <property fmtid="{D5CDD505-2E9C-101B-9397-08002B2CF9AE}" pid="8" name="CampaignTags">
    <vt:lpwstr/>
  </property>
</Properties>
</file>